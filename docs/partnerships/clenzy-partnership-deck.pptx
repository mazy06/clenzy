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6B8A9A"/>
                </a:solidFill>
                <a:latin typeface="Helvetica Neue"/>
              </a:rPr>
              <a:t>Clenzy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0" y="2423160"/>
            <a:ext cx="1463040" cy="54864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2697480"/>
            <a:ext cx="2743200" cy="36576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76148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PARTNERSHIP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2D3748"/>
                </a:solidFill>
                <a:latin typeface="Helvetica Neue"/>
              </a:rPr>
              <a:t>Clenzy × [PARTENAIRE]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18096"/>
                </a:solidFill>
                <a:latin typeface="Helvetica Neue"/>
              </a:rPr>
              <a:t>Le PMS du corridor euro-méditerranéen rencontre [Provider]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8378"/>
                </a:solidFill>
                <a:latin typeface="Helvetica Neue"/>
              </a:rPr>
              <a:t>[DATE] · [AUTEUR] · Clenzy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36576" cy="27432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6B8A9A"/>
                </a:solidFill>
                <a:latin typeface="Helvetica Neue"/>
              </a:rPr>
              <a:t>Clenzy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D3748"/>
                </a:solidFill>
                <a:latin typeface="Helvetica Neue"/>
              </a:rPr>
              <a:t>Qui est Clenzy 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" cy="36576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2D3748"/>
                </a:solidFill>
                <a:latin typeface="Helvetica Neue"/>
              </a:rPr>
              <a:t>Clenzy est un PMS (Property Management System) SaaS multi-tenant pour la location courte durée, spécialisé sur le corridor France ↔ Maroc ↔ Arabie Saoudite — un marché tri-régional encore sous-équipé par les PMS occidentaux.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00400"/>
            <a:ext cx="2651760" cy="20116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200400"/>
            <a:ext cx="2651760" cy="54864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6B8A9A"/>
                </a:solidFill>
                <a:latin typeface="Helvetica Neue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D3748"/>
                </a:solidFill>
                <a:latin typeface="Helvetica Neue"/>
              </a:rPr>
              <a:t>marchés couverts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18096"/>
                </a:solidFill>
                <a:latin typeface="Helvetica Neue"/>
              </a:rPr>
              <a:t>FR · MA · KSA · multi-devises EUR/MAD/SAR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200400"/>
            <a:ext cx="2651760" cy="20116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3200400"/>
            <a:ext cx="2651760" cy="54864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338328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6B8A9A"/>
                </a:solidFill>
                <a:latin typeface="Helvetica Neue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206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D3748"/>
                </a:solidFill>
                <a:latin typeface="Helvetica Neue"/>
              </a:rPr>
              <a:t>catégories d'intégrations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5720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18096"/>
                </a:solidFill>
                <a:latin typeface="Helvetica Neue"/>
              </a:rPr>
              <a:t>Signature · Pricing · KYC · Channels · IoT…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200400"/>
            <a:ext cx="2651760" cy="20116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00400"/>
            <a:ext cx="2651760" cy="54864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38328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6B8A9A"/>
                </a:solidFill>
                <a:latin typeface="Helvetica Neue"/>
              </a:rPr>
              <a:t>50+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06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D3748"/>
                </a:solidFill>
                <a:latin typeface="Helvetica Neue"/>
              </a:rPr>
              <a:t>fournisseurs branchés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5720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18096"/>
                </a:solidFill>
                <a:latin typeface="Helvetica Neue"/>
              </a:rPr>
              <a:t>Pattern Strategy SOLID · API-first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66928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A9B8E"/>
                </a:solidFill>
                <a:latin typeface="Helvetica Neue"/>
              </a:rPr>
              <a:t>« Un seul PMS pour gérer vos propriétés à Paris, Casablanca et Riyad.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Clenzy · Partnership Pitch ·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36576" cy="27432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6B8A9A"/>
                </a:solidFill>
                <a:latin typeface="Helvetica Neue"/>
              </a:rPr>
              <a:t>Clenzy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D3748"/>
                </a:solidFill>
                <a:latin typeface="Helvetica Neue"/>
              </a:rPr>
              <a:t>Un marché unique sur l'échiquier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" cy="36576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D3748"/>
                </a:solidFill>
                <a:latin typeface="Helvetica Neue"/>
              </a:rPr>
              <a:t>France · Maroc · Arabie Saoudite — un corridor STR en pleine croissance, mal adressé par les PMS US/UK existants.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5176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2651760" cy="502920"/>
          </a:xfrm>
          <a:prstGeom prst="rect">
            <a:avLst/>
          </a:prstGeom>
          <a:solidFill>
            <a:srgbClr val="6B8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157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</a:rPr>
              <a:t>FR — France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A9B8E"/>
                </a:solidFill>
                <a:latin typeface="Helvetica Neue"/>
              </a:rPr>
              <a:t>~800k logements STR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2D3748"/>
                </a:solidFill>
                <a:latin typeface="Helvetica Neue"/>
              </a:rPr>
              <a:t>Marché mature
Obligation fiche police
Multi-OTAs Airbnb/Booking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349240"/>
            <a:ext cx="2377440" cy="77724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41324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8A8378"/>
                </a:solidFill>
                <a:latin typeface="Helvetica Neue"/>
              </a:rPr>
              <a:t>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2356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EUR · Pennylane · Yousign · Chekin · Stripe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65176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2651760"/>
            <a:ext cx="2651760" cy="502920"/>
          </a:xfrm>
          <a:prstGeom prst="rect">
            <a:avLst/>
          </a:prstGeom>
          <a:solidFill>
            <a:srgbClr val="6B8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7157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</a:rPr>
              <a:t>MA — Maroc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3375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A9B8E"/>
                </a:solidFill>
                <a:latin typeface="Helvetica Neue"/>
              </a:rPr>
              <a:t>~50k logements STR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703320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2D3748"/>
                </a:solidFill>
                <a:latin typeface="Helvetica Neue"/>
              </a:rPr>
              <a:t>Marché en croissance rapide
Numérisation accélérée
Devise locale MAD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5349240"/>
            <a:ext cx="2377440" cy="77724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541324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8A8378"/>
                </a:solidFill>
                <a:latin typeface="Helvetica Neue"/>
              </a:rPr>
              <a:t>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62356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MAD · CMI · Police MA · WhatsApp · Arabe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65176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2651760"/>
            <a:ext cx="2651760" cy="502920"/>
          </a:xfrm>
          <a:prstGeom prst="rect">
            <a:avLst/>
          </a:prstGeom>
          <a:solidFill>
            <a:srgbClr val="6B8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7157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</a:rPr>
              <a:t>KSA — Arabie Saoudite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3375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A9B8E"/>
                </a:solidFill>
                <a:latin typeface="Helvetica Neue"/>
              </a:rPr>
              <a:t>~30k+ croissance Vision 2030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703320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2D3748"/>
                </a:solidFill>
                <a:latin typeface="Helvetica Neue"/>
              </a:rPr>
              <a:t>Marché en explosion (Vision 2030)
Tourisme religieux + business
Devise locale SAR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5349240"/>
            <a:ext cx="2377440" cy="77724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41324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8A8378"/>
                </a:solidFill>
                <a:latin typeface="Helvetica Neue"/>
              </a:rPr>
              <a:t>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62356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SAR · PayTabs · Absher · WhatsApp · Arabe RTL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Clenzy · Partnership Pitch · v1.0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36576" cy="27432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6B8A9A"/>
                </a:solidFill>
                <a:latin typeface="Helvetica Neue"/>
              </a:rPr>
              <a:t>Clenzy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D3748"/>
                </a:solidFill>
                <a:latin typeface="Helvetica Neue"/>
              </a:rPr>
              <a:t>Produit Clenzy — vue d'ensemble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" cy="36576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18096"/>
                </a:solidFill>
                <a:latin typeface="Helvetica Neue"/>
              </a:rPr>
              <a:t>Trois composants intégrés, conçus pour fonctionner ensemble.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68880"/>
            <a:ext cx="2651760" cy="3657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468880"/>
            <a:ext cx="640080" cy="64008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8775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</a:rPr>
              <a:t>PMS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D3748"/>
                </a:solidFill>
                <a:latin typeface="Helvetica Neue"/>
              </a:rPr>
              <a:t>Property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2377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2D3748"/>
                </a:solidFill>
                <a:latin typeface="Helvetica Neue"/>
              </a:rPr>
              <a:t>Calendrier multi-propriétés
Réservations + iCal sync
Pricing dynamique
Facturation NF
Interventions + ménage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8096"/>
                </a:solidFill>
                <a:latin typeface="Helvetica Neue"/>
              </a:rPr>
              <a:t>Web app responsive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468880"/>
            <a:ext cx="2651760" cy="3657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468880"/>
            <a:ext cx="640080" cy="640080"/>
          </a:xfrm>
          <a:prstGeom prst="rect">
            <a:avLst/>
          </a:prstGeom>
          <a:solidFill>
            <a:srgbClr val="6B8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58775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</a:rPr>
              <a:t>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606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D3748"/>
                </a:solidFill>
                <a:latin typeface="Helvetica Neue"/>
              </a:rPr>
              <a:t>Booking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383280"/>
            <a:ext cx="2377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2D3748"/>
                </a:solidFill>
                <a:latin typeface="Helvetica Neue"/>
              </a:rPr>
              <a:t>Widget JS embarquable
Multi-langue (FR/EN/AR/RTL)
Panier multi-séjours
KYC + paiement
Multi-devises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7607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8096"/>
                </a:solidFill>
                <a:latin typeface="Helvetica Neue"/>
              </a:rPr>
              <a:t>SDK pour site host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468880"/>
            <a:ext cx="2651760" cy="3657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2468880"/>
            <a:ext cx="640080" cy="64008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58775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</a:rPr>
              <a:t>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606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D3748"/>
                </a:solidFill>
                <a:latin typeface="Helvetica Neue"/>
              </a:rPr>
              <a:t>Operations Mobile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83280"/>
            <a:ext cx="2377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2D3748"/>
                </a:solidFill>
                <a:latin typeface="Helvetica Neue"/>
              </a:rPr>
              <a:t>Check-in/out
Ménage + inventaire
Intervention technique
Noise monitoring
Key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7607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8096"/>
                </a:solidFill>
                <a:latin typeface="Helvetica Neue"/>
              </a:rPr>
              <a:t>PWA mobile-first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Clenzy · Partnership Pitch · v1.0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36576" cy="27432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6B8A9A"/>
                </a:solidFill>
                <a:latin typeface="Helvetica Neue"/>
              </a:rPr>
              <a:t>Clenzy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D3748"/>
                </a:solidFill>
                <a:latin typeface="Helvetica Neue"/>
              </a:rPr>
              <a:t>Stack technique &amp;amp; intégrations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" cy="36576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18096"/>
                </a:solidFill>
                <a:latin typeface="Helvetica Neue"/>
              </a:rPr>
              <a:t>Architecture moderne, API-first, conçue pour les intégrations.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68880"/>
            <a:ext cx="1645920" cy="41148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54203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542032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Java 21 · Spring Boot 3.2 · JPA · Liquibase · Kafka · Redis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1645920" cy="41148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9067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090672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React 18 · TypeScript · MUI · Vite · RTK Query · i18next (FR/EN/AR)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1645920" cy="41148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63931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639312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PostgreSQL 16 · multi-tenant (Hibernate @Filter) · AES-256-GCM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1645920" cy="41148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8795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187952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Keycloak 24 · OAuth2 · multi-realm (PMS + booking engine)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63440"/>
            <a:ext cx="1645920" cy="41148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7365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PAIEMENTS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736592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Stripe (EU) · PayTabs (KSA) · CMI (MA) · Stripe Connect + SEPA payouts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12080"/>
            <a:ext cx="1645920" cy="41148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28523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SÉCURITÉ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285232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RGPD · @PreAuthorize partout · validation ownership · NDA-ready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85216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4A9B8E"/>
                </a:solidFill>
                <a:latin typeface="Helvetica Neue"/>
              </a:rPr>
              <a:t>50+ intégrations déjà branchées — Strategy + Registry pattern, ajout d'un provider = 1 classe.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Clenzy · Partnership Pitch · v1.0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36576" cy="27432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6B8A9A"/>
                </a:solidFill>
                <a:latin typeface="Helvetica Neue"/>
              </a:rPr>
              <a:t>Clenzy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D3748"/>
                </a:solidFill>
                <a:latin typeface="Helvetica Neue"/>
              </a:rPr>
              <a:t>Pourquoi ce partenariat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" cy="36576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18096"/>
                </a:solidFill>
                <a:latin typeface="Helvetica Neue"/>
              </a:rPr>
              <a:t>[À personnaliser pour chaque partenaire] — synergie business identifiée.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60320"/>
            <a:ext cx="4023360" cy="32918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4023360" cy="45720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334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</a:rPr>
              <a:t>Pour [PARTENAIRE]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3703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2D3748"/>
                </a:solidFill>
                <a:latin typeface="Helvetica Neue"/>
              </a:rPr>
              <a:t>▸ Canal de distribution vers le corridor FR/MA/KSA, encore peu adressé
▸ Audience qualifiée property managers STR (5-100 logements)
▸ Co-marketing : webinaires, études de cas, mentions site Clenzy
▸ Volume prévisible : [VOLUME] propriétés en S2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560320"/>
            <a:ext cx="4023360" cy="32918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560320"/>
            <a:ext cx="4023360" cy="457200"/>
          </a:xfrm>
          <a:prstGeom prst="rect">
            <a:avLst/>
          </a:prstGeom>
          <a:solidFill>
            <a:srgbClr val="6B8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6334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</a:rPr>
              <a:t>Pour Clenzy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246120"/>
            <a:ext cx="3703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2D3748"/>
                </a:solidFill>
                <a:latin typeface="Helvetica Neue"/>
              </a:rPr>
              <a:t>▸ Badge partenaire officiel = crédibilité commerciale
▸ Tarifs préférentiels à proposer à nos hosts
▸ Listing dans le marketplace [PARTENAIRE]
▸ Accès à la roadmap produit + support prioritaire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12648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4A9B8E"/>
                </a:solidFill>
                <a:latin typeface="Helvetica Neue"/>
              </a:rPr>
              <a:t>Synergie évidente, pas de chevauchement produit.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Clenzy · Partnership Pitch · v1.0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36576" cy="27432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6B8A9A"/>
                </a:solidFill>
                <a:latin typeface="Helvetica Neue"/>
              </a:rPr>
              <a:t>Clenzy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D3748"/>
                </a:solidFill>
                <a:latin typeface="Helvetica Neue"/>
              </a:rPr>
              <a:t>Volume prévisible &amp;amp; projections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" cy="36576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18096"/>
                </a:solidFill>
                <a:latin typeface="Helvetica Neue"/>
              </a:rPr>
              <a:t>Cibles internes Clenzy sur les 12-18 mois suivants — à actualiser au moment du pitch.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60320"/>
            <a:ext cx="8412480" cy="457200"/>
          </a:xfrm>
          <a:prstGeom prst="rect">
            <a:avLst/>
          </a:prstGeom>
          <a:solidFill>
            <a:srgbClr val="6B8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63347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TRIMESTRE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334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334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PROPRIÉTÉS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3347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ORGANISATIONS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004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A9B8E"/>
                </a:solidFill>
                <a:latin typeface="Helvetica Neue"/>
              </a:rPr>
              <a:t>Q3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20040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Phase pilote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004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~30 propriétés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004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~5 organisations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11880"/>
            <a:ext cx="841248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03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A9B8E"/>
                </a:solidFill>
                <a:latin typeface="Helvetica Neue"/>
              </a:rPr>
              <a:t>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0332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Lancement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7033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~80 propriétés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033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~15 organisations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062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A9B8E"/>
                </a:solidFill>
                <a:latin typeface="Helvetica Neue"/>
              </a:rPr>
              <a:t>Q1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20624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Expansion FR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20624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~150 propriétés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062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~30 organisations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17720"/>
            <a:ext cx="841248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70916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A9B8E"/>
                </a:solidFill>
                <a:latin typeface="Helvetica Neue"/>
              </a:rPr>
              <a:t>Q2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7091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Ouverture MA/KSA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7091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~250 propriétés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7091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~50 organisations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486400"/>
            <a:ext cx="8412480" cy="64008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486400"/>
            <a:ext cx="54864" cy="64008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5595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3748"/>
                </a:solidFill>
                <a:latin typeface="Helvetica Neue"/>
              </a:rPr>
              <a:t>Volume estimé impactant pour [PARTENAIRE]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338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8096"/>
                </a:solidFill>
                <a:latin typeface="Helvetica Neue"/>
              </a:rPr>
              <a:t>Sur la base d'un taux de pénétration estimé à [X]% du parc Clenzy → ~[Y] clients référés.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Clenzy · Partnership Pitch · v1.0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36576" cy="27432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6B8A9A"/>
                </a:solidFill>
                <a:latin typeface="Helvetica Neue"/>
              </a:rPr>
              <a:t>Clenzy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D3748"/>
                </a:solidFill>
                <a:latin typeface="Helvetica Neue"/>
              </a:rPr>
              <a:t>Roadmap produit Clenzy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" cy="36576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18096"/>
                </a:solidFill>
                <a:latin typeface="Helvetica Neue"/>
              </a:rPr>
              <a:t>Trois phases sur les 18 mois suivants — orientation produit + partnerships.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60320"/>
            <a:ext cx="2651760" cy="34747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2651760" cy="50292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3347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Phase 1 —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A9B8E"/>
                </a:solidFill>
                <a:latin typeface="Helvetica Neue"/>
              </a:rPr>
              <a:t>Maintenant → 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2377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2D3748"/>
                </a:solidFill>
                <a:latin typeface="Helvetica Neue"/>
              </a:rPr>
              <a:t>• Booking engine multi-langues + RTL
• Paiements Stripe + PayTabs + CMI opérationnels
• KYC Sumsub natif booking
• Intégrations P1 signées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560320"/>
            <a:ext cx="2651760" cy="34747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560320"/>
            <a:ext cx="2651760" cy="502920"/>
          </a:xfrm>
          <a:prstGeom prst="rect">
            <a:avLst/>
          </a:prstGeom>
          <a:solidFill>
            <a:srgbClr val="6B8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63347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Phase 2 —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200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8A9A"/>
                </a:solidFill>
                <a:latin typeface="Helvetica Neue"/>
              </a:rPr>
              <a:t>Q4 2026 → Q1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520440"/>
            <a:ext cx="2377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2D3748"/>
                </a:solidFill>
                <a:latin typeface="Helvetica Neue"/>
              </a:rPr>
              <a:t>• Marketplace activités cross-sell
• Open Banking PIS pour payouts auto
• Wise Business pour payouts MA/KSA
• Partnerships P2 + co-marketing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560320"/>
            <a:ext cx="2651760" cy="34747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560320"/>
            <a:ext cx="2651760" cy="50292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63347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Phase 3 —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00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D4A574"/>
                </a:solidFill>
                <a:latin typeface="Helvetica Neue"/>
              </a:rPr>
              <a:t>Q2 2027+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520440"/>
            <a:ext cx="2377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2D3748"/>
                </a:solidFill>
                <a:latin typeface="Helvetica Neue"/>
              </a:rPr>
              <a:t>• Compliance MA (DGSN) + KSA (Absher)
• IoT bundle hardware Clenzy
• IA / yield management propriétaire
• Marketplace activités complet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Clenzy · Partnership Pitch · v1.0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36576" cy="27432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6B8A9A"/>
                </a:solidFill>
                <a:latin typeface="Helvetica Neue"/>
              </a:rPr>
              <a:t>Clenzy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D3748"/>
                </a:solidFill>
                <a:latin typeface="Helvetica Neue"/>
              </a:rPr>
              <a:t>Ce que nous demandons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" cy="36576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18096"/>
                </a:solidFill>
                <a:latin typeface="Helvetica Neue"/>
              </a:rPr>
              <a:t>[À adapter au programme partenaires du partenaire] — demande claire et structurée.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06040"/>
            <a:ext cx="457200" cy="45720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6791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87752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3748"/>
                </a:solidFill>
                <a:latin typeface="Helvetica Neue"/>
              </a:rPr>
              <a:t>Statut officiel partenaire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718096"/>
                </a:solidFill>
                <a:latin typeface="Helvetica Neue"/>
              </a:rPr>
              <a:t>Inscription au programme Tech / Solution / Channel partner avec accès aux ressources et au badge marketing.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457200" cy="45720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456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64992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3748"/>
                </a:solidFill>
                <a:latin typeface="Helvetica Neue"/>
              </a:rPr>
              <a:t>Tarif préférentiel partenaire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718096"/>
                </a:solidFill>
                <a:latin typeface="Helvetica Neue"/>
              </a:rPr>
              <a:t>Discount [X]% à proposer aux clients Clenzy + commission referral sur les abonnements générés.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2336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42232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3748"/>
                </a:solidFill>
                <a:latin typeface="Helvetica Neue"/>
              </a:rPr>
              <a:t>Listing marketplace officiel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3484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718096"/>
                </a:solidFill>
                <a:latin typeface="Helvetica Neue"/>
              </a:rPr>
              <a:t>Présence dans votre PMS Marketplace / Integration Directory avec page Clenzy dédiée.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937760"/>
            <a:ext cx="457200" cy="45720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01091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19472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3748"/>
                </a:solidFill>
                <a:latin typeface="Helvetica Neue"/>
              </a:rPr>
              <a:t>Co-marketing structuré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1208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718096"/>
                </a:solidFill>
                <a:latin typeface="Helvetica Neue"/>
              </a:rPr>
              <a:t>Webinaire conjoint, étude de cas, mention dans la newsletter partenaire, post LinkedIn.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Clenzy · Partnership Pitch ·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18096"/>
                </a:solidFill>
                <a:latin typeface="Helvetica Neue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36576" cy="27432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6B8A9A"/>
                </a:solidFill>
                <a:latin typeface="Helvetica Neue"/>
              </a:rPr>
              <a:t>Clenzy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D3748"/>
                </a:solidFill>
                <a:latin typeface="Helvetica Neue"/>
              </a:rPr>
              <a:t>Prochaines étapes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" cy="36576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971800"/>
            <a:ext cx="731520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880360"/>
            <a:ext cx="274320" cy="27432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377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4A9B8E"/>
                </a:solidFill>
                <a:latin typeface="Helvetica Neue"/>
              </a:rPr>
              <a:t>Aujourd'hui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3832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D3748"/>
                </a:solidFill>
                <a:latin typeface="Helvetica Neue"/>
              </a:rPr>
              <a:t>Pitch 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5640" y="2880360"/>
            <a:ext cx="274320" cy="274320"/>
          </a:xfrm>
          <a:prstGeom prst="rect">
            <a:avLst/>
          </a:prstGeom>
          <a:solidFill>
            <a:srgbClr val="6B8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38400" y="2377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6B8A9A"/>
                </a:solidFill>
                <a:latin typeface="Helvetica Neue"/>
              </a:rPr>
              <a:t>Sem +1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8400" y="33832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D3748"/>
                </a:solidFill>
                <a:latin typeface="Helvetica Neue"/>
              </a:rPr>
              <a:t>Demo croisée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4040" y="2880360"/>
            <a:ext cx="274320" cy="27432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800" y="2377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D4A574"/>
                </a:solidFill>
                <a:latin typeface="Helvetica Neue"/>
              </a:rPr>
              <a:t>Sem +2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6800" y="33832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D3748"/>
                </a:solidFill>
                <a:latin typeface="Helvetica Neue"/>
              </a:rPr>
              <a:t>MoU partnership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880360"/>
            <a:ext cx="274320" cy="27432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377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4A9B8E"/>
                </a:solidFill>
                <a:latin typeface="Helvetica Neue"/>
              </a:rPr>
              <a:t>Sem +4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3832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D3748"/>
                </a:solidFill>
                <a:latin typeface="Helvetica Neue"/>
              </a:rPr>
              <a:t>Listing + co-marketing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297680"/>
            <a:ext cx="5486400" cy="1645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4297680"/>
            <a:ext cx="54864" cy="1645920"/>
          </a:xfrm>
          <a:prstGeom prst="rect">
            <a:avLst/>
          </a:prstGeom>
          <a:solidFill>
            <a:srgbClr val="4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44348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D3748"/>
                </a:solidFill>
                <a:latin typeface="Helvetica Neue"/>
              </a:rPr>
              <a:t>Restons en contact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8006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748"/>
                </a:solidFill>
                <a:latin typeface="Helvetica Neue"/>
              </a:rPr>
              <a:t>[VOTRE PRÉNOM NOM] — [VOTRE TITRE], Clenzy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120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18096"/>
                </a:solidFill>
                <a:latin typeface="Helvetica Neue"/>
              </a:rPr>
              <a:t>📧  [votre.email]@clenzy.fr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3949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18096"/>
                </a:solidFill>
                <a:latin typeface="Helvetica Neue"/>
              </a:rPr>
              <a:t>📞  +33 [votre.téléphone]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6692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18096"/>
                </a:solidFill>
                <a:latin typeface="Helvetica Neue"/>
              </a:rPr>
              <a:t>🌐  https://clenzy.fr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63093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A9B8E"/>
                </a:solidFill>
                <a:latin typeface="Helvetica Neue"/>
              </a:rPr>
              <a:t>Merci pour votre temps.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